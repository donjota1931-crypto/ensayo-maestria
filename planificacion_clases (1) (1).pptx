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8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425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 la presentación. Mencionar el contexto del módulo y los objetivos generales de las dos jornadas.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agenda de ambas jornadas. Destacar la progresión lógica del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Introducir la Unidad 3. Comentar la importancia de la metodología como columna vertebral del trabajo de titulación.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diferencia entre enfoque y diseño. Dar ejemplos financieros para cada 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fórmula de Cochran para cálculo muestral. Relacionar con el proyecto de titulación de cada estudiante.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ejemplo de tabla cruzada y resultado SPSS. Hernández Sampieri et al. (2014) es la referencia clave aquí.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que cada actividad produce un fragmento real del ensayo de titulación. Compartir plantilla de sección metodológica en el Moodle antes de iniciar.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Introducir la Unidad 4 destacando que es la culminación del proceso investigativo.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ejemplos de antes/después de redacción. Ejercicio de corrección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un modelo de conclusión bien redactada vs. mal redactada. Pedir a un estudiante que mejore una conclusión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Taller integrador. Las 4 actividades producen el cierre del ensayo. Recordar que las conclusiones no repiten resultados: los interpretan. Pedir a 2 voluntarios que lean su conclusión 1 en la plenaria.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Indicar que todas las referencias están disponibles en la biblioteca de la UNEMI. Recordar uso de gestor bibliográfico para el trabajo de titulación.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UNIVERSIDAD ESTATAL DE MILAGRO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54864"/>
          </a:xfrm>
          <a:prstGeom prst="rect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DE CLASES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Unidades 3 y 4 – Trabajo de Titulación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1C7293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35844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Finanzas – Gestión Bancaria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3291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1C7293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89204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35844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Cornejo Mayorga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75488" y="4251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45079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I-2025 | Período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420624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401568" y="4251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01568" y="45079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días × 5 horas = 10 horas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420624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510528" y="42519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10528" y="45079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Línea (Virtual)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TRABAJO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 1 – Unidad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 </a:t>
            </a:r>
            <a:r>
              <a:rPr lang="en-US" sz="10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192024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13232" y="19019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en la Investigación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395728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13232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Aplicada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" y="2871216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13232" y="28529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y Muestras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3346704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713232" y="33284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Datos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" y="3822192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713232" y="38039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de Hallazgos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" y="429768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713232" y="4279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09728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846320" y="109728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98348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 2 – Unidad 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</a:t>
            </a:r>
            <a:r>
              <a:rPr lang="en-US" sz="10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10912" y="192024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285232" y="19019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Científica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10912" y="239572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5285232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del Ensayo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10912" y="287121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285232" y="28529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del Documento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10912" y="334670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5285232" y="33284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Científicas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10912" y="382219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5285232" y="38039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y Proyecciones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10912" y="42976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5285232" y="4279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Final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73152"/>
          </a:xfrm>
          <a:prstGeom prst="rect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METODOLÓGICO Y ANÁLISIS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14–15 de marzo de 2026  |  5 horas académicas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611880"/>
            <a:ext cx="694944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280160" y="3657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APRENDIZAJE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4005072"/>
            <a:ext cx="137160" cy="13716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508760" y="397764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metodologías de investigación apropiadas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4251960"/>
            <a:ext cx="137160" cy="13716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1508760" y="42245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población y muestra adecuadas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0160" y="4498848"/>
            <a:ext cx="137160" cy="13716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508760" y="44714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datos y demostrar incidencia entre variables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0160" y="4745736"/>
            <a:ext cx="137160" cy="13716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1508760" y="471830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Discutir hallazgos con sustento científico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 1: Las Técnicas en la Investigación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Enfoques Metodológicos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6550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Cuantitativo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numérica, análisis estadístico, comprobación de hipótesis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1C7293">
              <a:alpha val="9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48640" y="27523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Cualitativo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0449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profunda, técnicas interpretativas, contexto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794760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21295C">
              <a:alpha val="9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48640" y="38496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1422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ambos enfoques para perspectiva completa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80060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Aplicada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554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Bernal (2016), la investigación aplicada busca generar conocimiento de uso inmediato para la resolución de problemas prácticos del entorno empresarial o bancario.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65176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Bernal, 2016, p. 71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 la Metodología: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63931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047488" y="36118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886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047488" y="38587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 hipótesis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413308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5047488" y="410565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estudio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437997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047488" y="435254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recolección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462686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5047488" y="45994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estadístico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Subtema 1.2 – Población, Muestras y Técnicas de Recolección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total de elementos sobre los que se desea obtener conclusiones (Baas Chable et al., 2015).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846320" y="10789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Subconjunto representativo. Calculada con nivel de confianza, margen de error y variabilidad (Munch, 2009).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6974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Recolección de Datos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54680"/>
          <a:ext cx="8595360" cy="18288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Técnica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Descripción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Aplicación Financiera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Cuestionario estructurado a la muestra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Percepción de riesgo crediticio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Entrevista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Conversación semiestructurada con expertos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Políticas de gestión bancaria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documental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de estados financieros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históricas de indicadores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directo de procesos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Procedimientos operativos bancarios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 2 – Procesamiento e Interpretación de Resultados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49224" y="107899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49224" y="1078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Recolección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2212848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encuestas e instrumentos validados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55648" y="1920240"/>
            <a:ext cx="19202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1947672" y="100584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2414016" y="107899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414016" y="1078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39112" y="18288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Codificación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20824" y="2212848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valores numéricos a variables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20440" y="1920240"/>
            <a:ext cx="19202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3712464" y="100584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178808" y="107899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178808" y="1078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03904" y="18288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Tabulación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85616" y="2212848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en matrices y tablas de frecuencia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85232" y="1920240"/>
            <a:ext cx="19202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5477256" y="100584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5943600" y="107899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943600" y="1078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68696" y="18288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50408" y="2212848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(SPSS/R/Excel)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50024" y="1920240"/>
            <a:ext cx="19202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242048" y="100584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7708392" y="107899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7708392" y="1078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33488" y="18288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2212848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de datos con el marco teórico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333756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estadísticas para demostrar incidencia entre variables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3767328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384048" y="38130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Correlación de Pearson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14600" y="38130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cuantitativas continuas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767328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4864608" y="38130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Chi-cuadrado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95160" y="38130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categóricas/nominales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29768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384048" y="43434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lineal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514600" y="4343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y relación causal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429768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4864608" y="43434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ANOVA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95160" y="4343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entre grupos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– UNIDAD 3: Sección Metodológica del Ensayo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60 minutos  |  Individual  |  Producto: borrador de las secciones Metodología y Resultados de tu ensayo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508760"/>
            <a:ext cx="4251960" cy="1600200"/>
          </a:xfrm>
          <a:prstGeom prst="roundRect">
            <a:avLst>
              <a:gd name="adj" fmla="val 6857"/>
            </a:avLst>
          </a:prstGeom>
          <a:solidFill>
            <a:srgbClr val="065A82">
              <a:alpha val="70000"/>
            </a:srgbClr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93192" y="1673352"/>
            <a:ext cx="457200" cy="45720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93192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49040" y="167335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749040" y="167335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1709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Párrafo de justificación metodológica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222199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150–200 palabras justificando el enfoque, tipo y diseño de tu investigación con al menos 1 cita APA.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508760"/>
            <a:ext cx="4251960" cy="1600200"/>
          </a:xfrm>
          <a:prstGeom prst="roundRect">
            <a:avLst>
              <a:gd name="adj" fmla="val 6857"/>
            </a:avLst>
          </a:prstGeom>
          <a:solidFill>
            <a:srgbClr val="065A82">
              <a:alpha val="70000"/>
            </a:srgbClr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965192" y="1673352"/>
            <a:ext cx="457200" cy="45720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965192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21040" y="167335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321040" y="167335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709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Población, muestra e instrumento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5192" y="222199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apartado metodológico: delimita tu población, calcula la muestra con la fórmula estadística y describe el instrumento.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246120"/>
            <a:ext cx="4251960" cy="1600200"/>
          </a:xfrm>
          <a:prstGeom prst="roundRect">
            <a:avLst>
              <a:gd name="adj" fmla="val 6857"/>
            </a:avLst>
          </a:prstGeom>
          <a:solidFill>
            <a:srgbClr val="065A82">
              <a:alpha val="70000"/>
            </a:srgbClr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93192" y="3410712"/>
            <a:ext cx="457200" cy="45720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93192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49040" y="341071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749040" y="341071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1832" y="3447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Subsección de resultados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" y="395935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los resultados: estadística descriptiva, tabla de incidencia entre tus variables e interpretación del estadístico (r, p-valor).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246120"/>
            <a:ext cx="4251960" cy="1600200"/>
          </a:xfrm>
          <a:prstGeom prst="roundRect">
            <a:avLst>
              <a:gd name="adj" fmla="val 6857"/>
            </a:avLst>
          </a:prstGeom>
          <a:solidFill>
            <a:srgbClr val="065A82">
              <a:alpha val="70000"/>
            </a:srgbClr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965192" y="3410712"/>
            <a:ext cx="457200" cy="45720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965192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21040" y="341071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8321040" y="341071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3447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Párrafo de discusión de hallazgos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65192" y="395935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200+ palabras vinculando tus resultados con 2 autores del módulo. Señala una limitación metodológica.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73152"/>
          </a:xfrm>
          <a:prstGeom prst="rect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SÍNTESIS Y PRESENTACIÓN FINAL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21–22 de marzo de 2026  |  5 horas académicas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611880"/>
            <a:ext cx="69494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280160" y="3657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APRENDIZAJE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4005072"/>
            <a:ext cx="137160" cy="13716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508760" y="397764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coherentemente todas las secciones del ensayo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4251960"/>
            <a:ext cx="137160" cy="13716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1508760" y="42245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principios de redacción científica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0160" y="4498848"/>
            <a:ext cx="137160" cy="13716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508760" y="44714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conclusiones basadas en evidencia estadística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0160" y="4745736"/>
            <a:ext cx="137160" cy="13716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1508760" y="471830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recomendaciones y proyecciones futuras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 1 – Redacción Científica del Ensayo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EBF5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73152" cy="1188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consistencia lógica del texto científico se logra cuando el lector puede reconstruir el camino del investigador desde la pregunta inicial hasta las conclusiones finales."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Sampieri et al. (2014, p. 358)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Redacción Científica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" y="2788920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228600" y="2788920"/>
            <a:ext cx="201168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20040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" y="3337560"/>
            <a:ext cx="17922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científicos establecidos, sin ambigüedades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2788920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2423160" y="2788920"/>
            <a:ext cx="201168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2514600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Objetividad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32888" y="3337560"/>
            <a:ext cx="17922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sin sesgos no fundamentados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788920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4617720" y="2788920"/>
            <a:ext cx="201168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709160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27448" y="3337560"/>
            <a:ext cx="17922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Párrafos breves con idea principal desarrollada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2788920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812280" y="2788920"/>
            <a:ext cx="2011680" cy="45720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903720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22008" y="3337560"/>
            <a:ext cx="17922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afirmación sustentada en evidencia citada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 2 – Conclusiones y Recomendaciones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54864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11480" y="10698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CIENTÍFICAS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conclusión científica debe: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85800" y="200253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la pregunta de investigación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85800" y="24414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Sintetizar confirmación / refutación de hipótesis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85800" y="28803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Cuantificar la relación entre variables (r, p-valor)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85800" y="33192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Contextualizar en la literatura científica revisada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7947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30352" y="38404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conclusiones no son una repetición de los resultados; son la interpretación reflexiva de esos resultados a la luz de la teoría." – Bernal (2016, p. 247)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114800" cy="5486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800600" y="10698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627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recomendaciones: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029968"/>
            <a:ext cx="3794760" cy="804672"/>
          </a:xfrm>
          <a:prstGeom prst="roundRect">
            <a:avLst>
              <a:gd name="adj" fmla="val 9091"/>
            </a:avLst>
          </a:prstGeom>
          <a:solidFill>
            <a:srgbClr val="065A82">
              <a:alpha val="12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846320" y="2029968"/>
            <a:ext cx="73152" cy="80467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010912" y="2075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10912" y="23591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institución financiera del caso de estudio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944368"/>
            <a:ext cx="3794760" cy="804672"/>
          </a:xfrm>
          <a:prstGeom prst="roundRect">
            <a:avLst>
              <a:gd name="adj" fmla="val 9091"/>
            </a:avLst>
          </a:prstGeom>
          <a:solidFill>
            <a:srgbClr val="1C7293">
              <a:alpha val="12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846320" y="2944368"/>
            <a:ext cx="73152" cy="80467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010912" y="2990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Académica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10912" y="32735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futura de investigación que amplíe el estudio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858768"/>
            <a:ext cx="3794760" cy="804672"/>
          </a:xfrm>
          <a:prstGeom prst="roundRect">
            <a:avLst>
              <a:gd name="adj" fmla="val 9091"/>
            </a:avLst>
          </a:prstGeom>
          <a:solidFill>
            <a:srgbClr val="1A7A4A">
              <a:alpha val="12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4846320" y="3858768"/>
            <a:ext cx="73152" cy="804672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5010912" y="3904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Metodológica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10912" y="41879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al diseño que fortalezcan la validez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4709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recomendaciones son el puente entre la investigación y la transformación de la práctica profesional." – Munch (2009, p. 134)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– UNIDAD 4: Secciones Finales del Ensayo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60 minutos  |  Individual  |  Producto: borrador de Conclusiones, Recomendaciones y revisión global del ensayo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508760"/>
            <a:ext cx="4251960" cy="1600200"/>
          </a:xfrm>
          <a:prstGeom prst="roundRect">
            <a:avLst>
              <a:gd name="adj" fmla="val 6857"/>
            </a:avLst>
          </a:prstGeom>
          <a:solidFill>
            <a:srgbClr val="1C7293">
              <a:alpha val="75000"/>
            </a:srgbClr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93192" y="1673352"/>
            <a:ext cx="457200" cy="45720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93192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49040" y="167335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749040" y="167335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1709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 de coherencia del ensayo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222199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8 secciones: marca C / P / X cada una e indica qué falta. Esa tabla es el diagnóstico de tu ensayo.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508760"/>
            <a:ext cx="4251960" cy="1600200"/>
          </a:xfrm>
          <a:prstGeom prst="roundRect">
            <a:avLst>
              <a:gd name="adj" fmla="val 6857"/>
            </a:avLst>
          </a:prstGeom>
          <a:solidFill>
            <a:srgbClr val="1C7293">
              <a:alpha val="75000"/>
            </a:srgbClr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965192" y="1673352"/>
            <a:ext cx="457200" cy="45720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965192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21040" y="167335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321040" y="167335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709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Redacción de conclusiones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5192" y="222199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conclusiones en párrafo: objetivo general (con estadístico), marco teórico (cita APA) y contexto financiero ecuatoriano.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246120"/>
            <a:ext cx="4251960" cy="1600200"/>
          </a:xfrm>
          <a:prstGeom prst="roundRect">
            <a:avLst>
              <a:gd name="adj" fmla="val 6857"/>
            </a:avLst>
          </a:prstGeom>
          <a:solidFill>
            <a:srgbClr val="1C7293">
              <a:alpha val="75000"/>
            </a:srgbClr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93192" y="3410712"/>
            <a:ext cx="457200" cy="45720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93192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49040" y="341071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749040" y="341071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1832" y="3447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Redacción de recomendaciones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" y="395935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recomendaciones argumentadas: práctica (institución), académica (línea futura) y metodológica (mejora al diseño).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246120"/>
            <a:ext cx="4251960" cy="1600200"/>
          </a:xfrm>
          <a:prstGeom prst="roundRect">
            <a:avLst>
              <a:gd name="adj" fmla="val 6857"/>
            </a:avLst>
          </a:prstGeom>
          <a:solidFill>
            <a:srgbClr val="1C7293">
              <a:alpha val="75000"/>
            </a:srgbClr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965192" y="3410712"/>
            <a:ext cx="457200" cy="457200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965192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21040" y="341071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D4AC0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8321040" y="341071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3447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 final y formato del ensayo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65192" y="395935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 10 criterios de calidad. Para los 'No' o 'Parcial': escribe tu plan de corrección.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 GENERAL – Formato APA 7.ª edición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Baas Chable, M. I., Barceló Méndez, M. G., y Herrera Garnica, G. R. (2015). Metodología de la investigación. Pearson.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548640" y="1975104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Bautista C., N. P. (2011). Proceso de la investigación cualitativa. Manual Moderno.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9464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22960" y="2615184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Bernal, C. (2016). Metodología de la investigación (4.ª ed.). Pearson.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548640" y="3401568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22960" y="332841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Sampieri, R., Fernández Collado, C., y Baptista Lucio, P. (2014). Metodología de la investigación (6.ª ed.). McGraw-Hill.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95928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22960" y="404164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Munch Galindo, L. (2009). Métodos y técnicas de investigación. Trillas.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Finanzas con Mención en Gestión Bancaria  |  UNEMI  |  Cohorte I-2025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1345</Words>
  <Application>Microsoft Office PowerPoint</Application>
  <PresentationFormat>Presentación en pantalla (16:9)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Planificación de Clases – Unidades 3 y 4</dc:title>
  <dc:subject>PptxGenJS Presentation</dc:subject>
  <dc:creator>Díaz Montenegro José Alberto</dc:creator>
  <cp:lastModifiedBy>ANA DEL ROCIO CORNEJO MAYORGA</cp:lastModifiedBy>
  <cp:revision>2</cp:revision>
  <dcterms:created xsi:type="dcterms:W3CDTF">2026-06-20T02:52:51Z</dcterms:created>
  <dcterms:modified xsi:type="dcterms:W3CDTF">2026-06-20T02:58:47Z</dcterms:modified>
</cp:coreProperties>
</file>